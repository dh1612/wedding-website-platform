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6bab8921f44fb6" /><Relationship Type="http://schemas.openxmlformats.org/officeDocument/2006/relationships/extended-properties" Target="/docProps/app.xml" Id="R39469624a81c4e02" /><Relationship Type="http://schemas.openxmlformats.org/officeDocument/2006/relationships/officeDocument" Target="/ppt/presentation.xml" Id="Red110dfba03d4a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6667db9e914108"/>
  </p:sldMasterIdLst>
  <p:notesMasterIdLst>
    <p:notesMasterId xmlns:r="http://schemas.openxmlformats.org/officeDocument/2006/relationships" r:id="R31b5234673564760"/>
  </p:notesMasterIdLst>
  <p:sldIdLst>
    <p:sldId xmlns:r="http://schemas.openxmlformats.org/officeDocument/2006/relationships" id="256" r:id="R0ba758959df64997"/>
    <p:sldId xmlns:r="http://schemas.openxmlformats.org/officeDocument/2006/relationships" id="257" r:id="R35c592dfa6ee4e68"/>
    <p:sldId xmlns:r="http://schemas.openxmlformats.org/officeDocument/2006/relationships" id="258" r:id="R3cee7072dfba4647"/>
    <p:sldId xmlns:r="http://schemas.openxmlformats.org/officeDocument/2006/relationships" id="259" r:id="Rb33dc4661a3b4c71"/>
    <p:sldId xmlns:r="http://schemas.openxmlformats.org/officeDocument/2006/relationships" id="260" r:id="Ra74aef36c2464bc2"/>
    <p:sldId xmlns:r="http://schemas.openxmlformats.org/officeDocument/2006/relationships" id="261" r:id="Rbef817eada4c4a8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6667db9e914108" /><Relationship Type="http://schemas.openxmlformats.org/officeDocument/2006/relationships/theme" Target="/ppt/theme/theme1.xml" Id="Rd51c2804d7af4417" /><Relationship Type="http://schemas.openxmlformats.org/officeDocument/2006/relationships/notesMaster" Target="/ppt/notesMasters/notesMaster1.xml" Id="R31b5234673564760" /><Relationship Type="http://schemas.openxmlformats.org/officeDocument/2006/relationships/presProps" Target="/ppt/presProps.xml" Id="Rb807865aa88a4673" /><Relationship Type="http://schemas.openxmlformats.org/officeDocument/2006/relationships/viewProps" Target="/ppt/viewProps.xml" Id="Rdbea5a0b39da4cc7" /><Relationship Type="http://schemas.openxmlformats.org/officeDocument/2006/relationships/tableStyles" Target="/ppt/tableStyles.xml" Id="Rb615597931034613" /><Relationship Type="http://schemas.openxmlformats.org/officeDocument/2006/relationships/slide" Target="/ppt/slides/slide1.xml" Id="R0ba758959df64997" /><Relationship Type="http://schemas.openxmlformats.org/officeDocument/2006/relationships/slide" Target="/ppt/slides/slide2.xml" Id="R35c592dfa6ee4e68" /><Relationship Type="http://schemas.openxmlformats.org/officeDocument/2006/relationships/slide" Target="/ppt/slides/slide3.xml" Id="R3cee7072dfba4647" /><Relationship Type="http://schemas.openxmlformats.org/officeDocument/2006/relationships/slide" Target="/ppt/slides/slide4.xml" Id="Rb33dc4661a3b4c71" /><Relationship Type="http://schemas.openxmlformats.org/officeDocument/2006/relationships/slide" Target="/ppt/slides/slide5.xml" Id="Ra74aef36c2464bc2" /><Relationship Type="http://schemas.openxmlformats.org/officeDocument/2006/relationships/slide" Target="/ppt/slides/slide6.xml" Id="Rbef817eada4c4a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9e63d3490444a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43e9ca865845c2" /><Relationship Type="http://schemas.openxmlformats.org/officeDocument/2006/relationships/notesMaster" Target="/ppt/notesMasters/notesMaster1.xml" Id="Rc2c4173c3d4345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b14de42c9a4cb7" /><Relationship Type="http://schemas.openxmlformats.org/officeDocument/2006/relationships/notesMaster" Target="/ppt/notesMasters/notesMaster1.xml" Id="R6c63bfa71c4d49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734efcafdd4b0e" /><Relationship Type="http://schemas.openxmlformats.org/officeDocument/2006/relationships/notesMaster" Target="/ppt/notesMasters/notesMaster1.xml" Id="Rb9495a94fade4b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c545bc3fc64a8d" /><Relationship Type="http://schemas.openxmlformats.org/officeDocument/2006/relationships/notesMaster" Target="/ppt/notesMasters/notesMaster1.xml" Id="R884ee6bbac0744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e3bf3001ee4a48" /><Relationship Type="http://schemas.openxmlformats.org/officeDocument/2006/relationships/notesMaster" Target="/ppt/notesMasters/notesMaster1.xml" Id="R3dcb004fb10842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57c1d3accd4a0d" /><Relationship Type="http://schemas.openxmlformats.org/officeDocument/2006/relationships/notesMaster" Target="/ppt/notesMasters/notesMaster1.xml" Id="R0e5656e4f41942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84bd56af5d452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604D407B-9E33-42BE-995F-7D6887FC93CD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348B553B-8502-40DD-9704-DB6F150194CA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93BC1E-9332-4248-95A9-9AC6B0AFC88F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9E00D4D-2D3E-4B5D-90A1-9D6E976FAD2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47A86F-6284-4BFA-8D53-187B155D7C4F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8a907bebce54afd" /><Relationship Type="http://schemas.openxmlformats.org/officeDocument/2006/relationships/slideLayout" Target="/ppt/slideLayouts/slideLayout2.xml" Id="Rce0238eda28846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DFFB4BD-DC3D-452C-96D5-9A86D7943A00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0238eda28846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733baf906e4b91" /><Relationship Type="http://schemas.openxmlformats.org/officeDocument/2006/relationships/notesSlide" Target="/ppt/notesSlides/notesSlide1.xml" Id="R71c0071a9f9045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95d6126cc54afe" /><Relationship Type="http://schemas.openxmlformats.org/officeDocument/2006/relationships/notesSlide" Target="/ppt/notesSlides/notesSlide2.xml" Id="Rdbfe9d1f0a674f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f096127a52422d" /><Relationship Type="http://schemas.openxmlformats.org/officeDocument/2006/relationships/notesSlide" Target="/ppt/notesSlides/notesSlide3.xml" Id="Red01663e9d5844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1b04008a954ed9" /><Relationship Type="http://schemas.openxmlformats.org/officeDocument/2006/relationships/notesSlide" Target="/ppt/notesSlides/notesSlide4.xml" Id="R71fa61ac236d4f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37edabe4f74d4a" /><Relationship Type="http://schemas.openxmlformats.org/officeDocument/2006/relationships/notesSlide" Target="/ppt/notesSlides/notesSlide5.xml" Id="R9dbe23525d2b4e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4b36cba732418e" /><Relationship Type="http://schemas.openxmlformats.org/officeDocument/2006/relationships/notesSlide" Target="/ppt/notesSlides/notesSlide6.xml" Id="Rde11754b517e4f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1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47A86F-6284-4BFA-8D53-187B155D7C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2D5A5-208C-4E28-85C9-89DD26F0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0D5071-E71A-442E-A20C-9D83280E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143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BA3AF-6168-4D2D-A03C-1AA57CA5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625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24FB8-3A96-4F5A-83F3-F9A80659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381000"/>
            <a:ext cx="24765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6DB6C-DE90-4833-B150-669C439C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78FE3-DBD5-4EA5-A2D0-0D66B05D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143000"/>
            <a:ext cx="3143250" cy="40005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D4A36"/>
          </a:solidFill>
          <a:ln xmlns:a="http://schemas.openxmlformats.org/drawingml/2006/main" w="0">
            <a:solidFill>
              <a:srgbClr val="0D4A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09122-35E3-4683-84C9-A7378C9F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1925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D5"/>
          </a:solidFill>
          <a:ln xmlns:a="http://schemas.openxmlformats.org/drawingml/2006/main" w="0">
            <a:solidFill>
              <a:srgbClr val="F4E8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A7544-7C7B-4681-8192-213EABF3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52625"/>
            <a:ext cx="857250" cy="1714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DD3"/>
          </a:solidFill>
          <a:ln xmlns:a="http://schemas.openxmlformats.org/drawingml/2006/main" w="0">
            <a:solidFill>
              <a:srgbClr val="C7DDD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1F5BD-B399-407E-A778-1849435D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133350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D9D1"/>
          </a:solidFill>
          <a:ln xmlns:a="http://schemas.openxmlformats.org/drawingml/2006/main" w="0">
            <a:solidFill>
              <a:srgbClr val="E7D9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B7C58-7E04-41C4-8DBA-5409BF93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77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4A36"/>
                </a:solidFill>
              </a:defRPr>
            </a:pPr>
            <a:r>
              <a:rPr sz="975" b="1">
                <a:solidFill>
                  <a:srgbClr val="0D4A36"/>
                </a:solidFill>
              </a:rPr>
              <a:t>AGELO WEDDINGS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5E9C7-0D84-4821-A556-E234AE38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43050"/>
            <a:ext cx="5334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211D"/>
                </a:solidFill>
              </a:defRPr>
            </a:pPr>
            <a:r>
              <a:rPr sz="3150" b="1">
                <a:solidFill>
                  <a:srgbClr val="16211D"/>
                </a:solidFill>
              </a:rPr>
              <a:t>Wedding Websites</a:t>
            </a:r>
          </a:p>
          <a:p xmlns:a="http://schemas.openxmlformats.org/drawingml/2006/main">
            <a:pPr algn="l">
              <a:defRPr sz="3150" b="1">
                <a:solidFill>
                  <a:srgbClr val="16211D"/>
                </a:solidFill>
              </a:defRPr>
            </a:pPr>
            <a:r>
              <a:rPr sz="3150" b="1">
                <a:solidFill>
                  <a:srgbClr val="16211D"/>
                </a:solidFill>
              </a:rPr>
              <a:t>With A Planning Portal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806788-CE10-41BE-8A12-D44BD7D1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5334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1665D"/>
                </a:solidFill>
              </a:defRPr>
            </a:pPr>
            <a:r>
              <a:rPr sz="1575" b="0">
                <a:solidFill>
                  <a:srgbClr val="51665D"/>
                </a:solidFill>
              </a:rPr>
              <a:t>A refined digital service for couples who want a beautiful wedding website, clear guest communication, and practical planning tools in one place.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E6D08-B713-40E9-8925-03E8AA28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27241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D4A36"/>
          </a:solidFill>
          <a:ln xmlns:a="http://schemas.openxmlformats.org/drawingml/2006/main" w="0">
            <a:solidFill>
              <a:srgbClr val="0D4A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E4FF2E-E5A4-4AB8-9D23-588AB6BD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95875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Packages from EUR195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EA4EB3-B8F0-4753-958F-17E3AC18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D4A36"/>
                </a:solidFill>
              </a:defRPr>
            </a:pPr>
            <a:r>
              <a:rPr sz="1200" b="0">
                <a:solidFill>
                  <a:srgbClr val="0D4A36"/>
                </a:solidFill>
              </a:rPr>
              <a:t>Wedding websites that feel bespoke, not templated.</a:t>
            </a:r>
          </a:p>
        </p:txBody>
      </p:sp>
    </p:spTree>
    <p:extLst>
      <p:ext uri="{BB962C8B-B14F-4D97-AF65-F5344CB8AC3E}">
        <p14:creationId xmlns:p14="http://schemas.microsoft.com/office/powerpoint/2010/main" val="19198464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47A86F-6284-4BFA-8D53-187B155D7C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7C204-FF91-4470-BD09-06C8A3B8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07562-003E-4B41-9C17-CE5F3872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143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CB0A1-C81F-4596-A1D5-E083FC00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625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4AD35-7067-4DCA-94CD-8689BD66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381000"/>
            <a:ext cx="24765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6981A-3BCA-47D9-9687-BA935B6A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797E0-7644-4DCF-9CEB-18861358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4A36"/>
                </a:solidFill>
              </a:defRPr>
            </a:pPr>
            <a:r>
              <a:rPr sz="900" b="1">
                <a:solidFill>
                  <a:srgbClr val="0D4A36"/>
                </a:solidFill>
              </a:rPr>
              <a:t>AGELO WEDDINGS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FD8D6-6DDF-411A-8D7E-F910DDF0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906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9A57"/>
                </a:solidFill>
              </a:defRPr>
            </a:pPr>
            <a:r>
              <a:rPr sz="825" b="1">
                <a:solidFill>
                  <a:srgbClr val="C49A57"/>
                </a:solidFill>
              </a:rPr>
              <a:t>WHAT COUPLES RECEIVE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3910F3-C496-458A-B8AE-173A98F3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781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1665D"/>
                </a:solidFill>
              </a:defRPr>
            </a:pPr>
            <a:r>
              <a:rPr sz="900" b="1">
                <a:solidFill>
                  <a:srgbClr val="51665D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8567B-014C-4B17-B859-ECB79A30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BD4AF-C9F6-4E5A-9C69-2440260A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666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11D"/>
                </a:solidFill>
              </a:defRPr>
            </a:pPr>
            <a:r>
              <a:rPr sz="2550" b="1">
                <a:solidFill>
                  <a:srgbClr val="16211D"/>
                </a:solidFill>
              </a:rPr>
              <a:t>A polished guest-facing website with a private planning space behind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46AF4F-F0FD-46CF-928A-E1E980FE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609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1665D"/>
                </a:solidFill>
              </a:defRPr>
            </a:pPr>
            <a:r>
              <a:rPr sz="1425" b="0">
                <a:solidFill>
                  <a:srgbClr val="51665D"/>
                </a:solidFill>
              </a:rPr>
              <a:t>The result is more than a website. It becomes a calm digital home for wedding information, RSVP organisation, and planning progress.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6C962A-96AB-4BE0-8A90-C6E3D098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636ECF-828D-4357-B28C-4E346E73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95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082832-1A1E-40D5-9C94-9F972FA4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11D"/>
                </a:solidFill>
              </a:defRPr>
            </a:pPr>
            <a:r>
              <a:rPr sz="1650" b="1">
                <a:solidFill>
                  <a:srgbClr val="16211D"/>
                </a:solidFill>
              </a:rPr>
              <a:t>Beautiful website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CE5A82-1FEB-47C8-9DA0-77B01F93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236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65D"/>
                </a:solidFill>
              </a:defRPr>
            </a:pPr>
            <a:r>
              <a:rPr sz="1200" b="0">
                <a:solidFill>
                  <a:srgbClr val="51665D"/>
                </a:solidFill>
              </a:rPr>
              <a:t>Guest information, story, travel details, accommodation, FAQ and registry in a style-led site.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F8F963-A84F-4B57-9B68-DBCCBEC1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18D339-B8FC-4461-9FBA-DC21CB4A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29000"/>
            <a:ext cx="95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56E3B8-CAFD-4E66-A4B2-621D5BBA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385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11D"/>
                </a:solidFill>
              </a:defRPr>
            </a:pPr>
            <a:r>
              <a:rPr sz="1650" b="1">
                <a:solidFill>
                  <a:srgbClr val="16211D"/>
                </a:solidFill>
              </a:rPr>
              <a:t>AI concierge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805FCA-A71A-4DBD-8349-76858645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81450"/>
            <a:ext cx="236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65D"/>
                </a:solidFill>
              </a:defRPr>
            </a:pPr>
            <a:r>
              <a:rPr sz="1200" b="0">
                <a:solidFill>
                  <a:srgbClr val="51665D"/>
                </a:solidFill>
              </a:rPr>
              <a:t>Optional guest question assistant that answers from the wedding's own information only.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44B460-4A6A-43E8-8935-1A973D66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F7EA5E-95BE-480A-9687-4A63113F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95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3CDCE5-C02B-4B83-9B45-13F8BD15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625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11D"/>
                </a:solidFill>
              </a:defRPr>
            </a:pPr>
            <a:r>
              <a:rPr sz="1650" b="1">
                <a:solidFill>
                  <a:srgbClr val="16211D"/>
                </a:solidFill>
              </a:rPr>
              <a:t>Couple portal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08A069-626E-4065-A7A9-E773FE54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05450"/>
            <a:ext cx="236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65D"/>
                </a:solidFill>
              </a:defRPr>
            </a:pPr>
            <a:r>
              <a:rPr sz="1200" b="0">
                <a:solidFill>
                  <a:srgbClr val="51665D"/>
                </a:solidFill>
              </a:rPr>
              <a:t>Private planning area for checklist progress, guest visibility, and portal-style tools.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5219D3-33E3-4993-8A07-A208F839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53000"/>
            <a:ext cx="2857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8696CF-593E-483F-9599-15ADEB07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53000"/>
            <a:ext cx="95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9B00C6-2746-41B6-B200-E5109CD3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1625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211D"/>
                </a:solidFill>
              </a:defRPr>
            </a:pPr>
            <a:r>
              <a:rPr sz="1650" b="1">
                <a:solidFill>
                  <a:srgbClr val="16211D"/>
                </a:solidFill>
              </a:rPr>
              <a:t>RSVP control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41143B-384D-40E5-89E4-F8C38A46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505450"/>
            <a:ext cx="236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65D"/>
                </a:solidFill>
              </a:defRPr>
            </a:pPr>
            <a:r>
              <a:rPr sz="1200" b="0">
                <a:solidFill>
                  <a:srgbClr val="51665D"/>
                </a:solidFill>
              </a:rPr>
              <a:t>Manual guest management, responses, and practical planning data stored in one place.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C0BDEC-847A-4775-AB7F-E401E7CD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62150"/>
            <a:ext cx="3105150" cy="316230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0F5A41"/>
          </a:solidFill>
          <a:ln xmlns:a="http://schemas.openxmlformats.org/drawingml/2006/main" w="0">
            <a:solidFill>
              <a:srgbClr val="0F5A4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0FC4EE-64E5-409D-B5E2-AA11628B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2381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Designed to reduce wedding admin, not add to it.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0A3CEB-E3E1-4F2C-BEB4-A31AA40C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29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9A57"/>
          </a:solidFill>
          <a:ln xmlns:a="http://schemas.openxmlformats.org/drawingml/2006/main" w="0">
            <a:solidFill>
              <a:srgbClr val="C49A5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458E60-05F7-4A06-BAAE-4EE456C1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43300"/>
            <a:ext cx="2019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11D"/>
                </a:solidFill>
              </a:defRPr>
            </a:pPr>
            <a:r>
              <a:rPr sz="1500" b="0">
                <a:solidFill>
                  <a:srgbClr val="16211D"/>
                </a:solidFill>
              </a:rPr>
              <a:t>Clear guest information in one place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71B755-8003-473D-BE5D-E6155D6B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671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9A57"/>
          </a:solidFill>
          <a:ln xmlns:a="http://schemas.openxmlformats.org/drawingml/2006/main" w="0">
            <a:solidFill>
              <a:srgbClr val="C49A5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E3DC83-970D-4C57-8A50-CEC3A6E1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81450"/>
            <a:ext cx="2019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11D"/>
                </a:solidFill>
              </a:defRPr>
            </a:pPr>
            <a:r>
              <a:rPr sz="1500" b="0">
                <a:solidFill>
                  <a:srgbClr val="16211D"/>
                </a:solidFill>
              </a:rPr>
              <a:t>A premium digital experience for couples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EA2FE0-694B-412E-89FC-FE46D292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05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9A57"/>
          </a:solidFill>
          <a:ln xmlns:a="http://schemas.openxmlformats.org/drawingml/2006/main" w="0">
            <a:solidFill>
              <a:srgbClr val="C49A5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388CBA-71C5-4BF0-A41B-4219BBD7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19600"/>
            <a:ext cx="2019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11D"/>
                </a:solidFill>
              </a:defRPr>
            </a:pPr>
            <a:r>
              <a:rPr sz="1500" b="0">
                <a:solidFill>
                  <a:srgbClr val="16211D"/>
                </a:solidFill>
              </a:rPr>
              <a:t>Reusable structure behind the scenes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47AFF5-9149-4862-BEAC-F7BACEF3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43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9A57"/>
          </a:solidFill>
          <a:ln xmlns:a="http://schemas.openxmlformats.org/drawingml/2006/main" w="0">
            <a:solidFill>
              <a:srgbClr val="C49A5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93E1ECE-3AB5-4CB8-AF25-89246F75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857750"/>
            <a:ext cx="2019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6211D"/>
                </a:solidFill>
              </a:defRPr>
            </a:pPr>
            <a:r>
              <a:rPr sz="1500" b="0">
                <a:solidFill>
                  <a:srgbClr val="16211D"/>
                </a:solidFill>
              </a:rPr>
              <a:t>Room to upgrade into a fuller planning portal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E3CC9B-C04D-449D-B306-F457B17D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627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1665D"/>
                </a:solidFill>
              </a:defRPr>
            </a:pPr>
            <a:r>
              <a:rPr sz="825" b="0">
                <a:solidFill>
                  <a:srgbClr val="51665D"/>
                </a:solidFill>
              </a:rPr>
              <a:t>Elegant wedding websites and planning portals, built to feel bespoke.</a:t>
            </a:r>
          </a:p>
        </p:txBody>
      </p:sp>
    </p:spTree>
    <p:extLst>
      <p:ext uri="{BB962C8B-B14F-4D97-AF65-F5344CB8AC3E}">
        <p14:creationId xmlns:p14="http://schemas.microsoft.com/office/powerpoint/2010/main" val="13035166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47A86F-6284-4BFA-8D53-187B155D7C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919CD3-9E55-45EB-9894-E5C44287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32DE8-667B-4B31-A222-83C12886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143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2810C-8F8C-4434-92BA-BB49D53B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625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D1AEF-F704-4A92-B661-0D008911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381000"/>
            <a:ext cx="24765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6E7C4-D295-4508-83F7-AC75E8E6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BA1C5-D8ED-4360-A5A2-9BF7D7C0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4A36"/>
                </a:solidFill>
              </a:defRPr>
            </a:pPr>
            <a:r>
              <a:rPr sz="900" b="1">
                <a:solidFill>
                  <a:srgbClr val="0D4A36"/>
                </a:solidFill>
              </a:rPr>
              <a:t>AGELO WEDDINGS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EDA4A-6D53-4AF6-B292-D4DB054A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906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9A57"/>
                </a:solidFill>
              </a:defRPr>
            </a:pPr>
            <a:r>
              <a:rPr sz="825" b="1">
                <a:solidFill>
                  <a:srgbClr val="C49A57"/>
                </a:solidFill>
              </a:rPr>
              <a:t>PACKAGES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4AF97-3553-4FB9-A9E4-16435CA5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781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1665D"/>
                </a:solidFill>
              </a:defRPr>
            </a:pPr>
            <a:r>
              <a:rPr sz="900" b="1">
                <a:solidFill>
                  <a:srgbClr val="51665D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91601-7A4F-43DF-920B-D4F473C5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113A52-5A4A-4E5E-A60A-68B80323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476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11D"/>
                </a:solidFill>
              </a:defRPr>
            </a:pPr>
            <a:r>
              <a:rPr sz="2700" b="1">
                <a:solidFill>
                  <a:srgbClr val="16211D"/>
                </a:solidFill>
              </a:rPr>
              <a:t>Three clear package options.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C88F5D-2680-4131-ADE2-FEC17FA0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65D"/>
                </a:solidFill>
              </a:defRPr>
            </a:pPr>
            <a:r>
              <a:rPr sz="1350" b="0">
                <a:solidFill>
                  <a:srgbClr val="51665D"/>
                </a:solidFill>
              </a:rPr>
              <a:t>Positioned as a done-for-you service rather than a DIY template.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3170BB-F3D1-40D4-98E6-FF013716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32004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EDBFCC-A824-49D5-A237-2C577AD8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320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9E137-41C5-4220-B61B-D4D14957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211D"/>
                </a:solidFill>
              </a:defRPr>
            </a:pPr>
            <a:r>
              <a:rPr sz="1950" b="1">
                <a:solidFill>
                  <a:srgbClr val="16211D"/>
                </a:solidFill>
              </a:rPr>
              <a:t>Essential Website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188592-54B7-4240-BFC6-CDFA9056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766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D4A36"/>
                </a:solidFill>
              </a:defRPr>
            </a:pPr>
            <a:r>
              <a:rPr sz="2025" b="1">
                <a:solidFill>
                  <a:srgbClr val="0D4A36"/>
                </a:solidFill>
              </a:rPr>
              <a:t>EUR195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BB816-C6BD-4A6E-ACF9-676B38B9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52900"/>
            <a:ext cx="272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65D"/>
                </a:solidFill>
              </a:defRPr>
            </a:pPr>
            <a:r>
              <a:rPr sz="1200" b="0">
                <a:solidFill>
                  <a:srgbClr val="51665D"/>
                </a:solidFill>
              </a:rPr>
              <a:t>Perfect for couples who want a polished digital invite and information hub.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FF4C2A-D61B-4EC7-A00E-60895FC9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33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FED109-6F14-4CBB-AFDC-4FEBE668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768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11D"/>
                </a:solidFill>
              </a:defRPr>
            </a:pPr>
            <a:r>
              <a:rPr sz="1050" b="0">
                <a:solidFill>
                  <a:srgbClr val="16211D"/>
                </a:solidFill>
              </a:rPr>
              <a:t>Beautiful website setup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7ECD20-7355-423D-AA41-719F66A56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6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CA722F-951E-4CDC-A274-D6F7BB32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054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11D"/>
                </a:solidFill>
              </a:defRPr>
            </a:pPr>
            <a:r>
              <a:rPr sz="1050" b="0">
                <a:solidFill>
                  <a:srgbClr val="16211D"/>
                </a:solidFill>
              </a:rPr>
              <a:t>Guest info pages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7E684C-EB66-45F0-A69F-B2860340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91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86D878-516A-4A7F-857C-A06E7EAE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340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11D"/>
                </a:solidFill>
              </a:defRPr>
            </a:pPr>
            <a:r>
              <a:rPr sz="1050" b="0">
                <a:solidFill>
                  <a:srgbClr val="16211D"/>
                </a:solidFill>
              </a:rPr>
              <a:t>One selected design direction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7E92B2-3BDD-4200-9431-C68EA80D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19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071A28-1194-42EA-9236-E1AF6913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626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11D"/>
                </a:solidFill>
              </a:defRPr>
            </a:pPr>
            <a:r>
              <a:rPr sz="1050" b="0">
                <a:solidFill>
                  <a:srgbClr val="16211D"/>
                </a:solidFill>
              </a:rPr>
              <a:t>Mobile-friendly launch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F6E563-FBF8-4844-AA63-88AEC225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81300"/>
            <a:ext cx="32004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5F9F6"/>
          </a:solidFill>
          <a:ln xmlns:a="http://schemas.openxmlformats.org/drawingml/2006/main" w="9525">
            <a:solidFill>
              <a:srgbClr val="D9DF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1F4567-CBA8-4D6C-BCA9-4D393A7C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81300"/>
            <a:ext cx="320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9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E590A6-1FF0-48ED-96BE-920EAEE3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1051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211D"/>
                </a:solidFill>
              </a:defRPr>
            </a:pPr>
            <a:r>
              <a:rPr sz="1950" b="1">
                <a:solidFill>
                  <a:srgbClr val="16211D"/>
                </a:solidFill>
              </a:rPr>
              <a:t>Website + AI Concierge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465E3A-DBC0-4869-89B9-AE8C9703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766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D4A36"/>
                </a:solidFill>
              </a:defRPr>
            </a:pPr>
            <a:r>
              <a:rPr sz="2025" b="1">
                <a:solidFill>
                  <a:srgbClr val="0D4A36"/>
                </a:solidFill>
              </a:rPr>
              <a:t>EUR345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6FBE37-2D4C-423C-89C4-021B03D8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52900"/>
            <a:ext cx="272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65D"/>
                </a:solidFill>
              </a:defRPr>
            </a:pPr>
            <a:r>
              <a:rPr sz="1200" b="0">
                <a:solidFill>
                  <a:srgbClr val="51665D"/>
                </a:solidFill>
              </a:rPr>
              <a:t>Adds a premium guest experience with a wedding-specific question assistant.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77D1BC-3E6A-4617-92D8-E6A0F485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933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9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5C4770-64DD-48F1-A70D-BA65BD3F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768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11D"/>
                </a:solidFill>
              </a:defRPr>
            </a:pPr>
            <a:r>
              <a:rPr sz="1050" b="0">
                <a:solidFill>
                  <a:srgbClr val="16211D"/>
                </a:solidFill>
              </a:rPr>
              <a:t>Everything in Essential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7D8CED-C298-4F03-A4DB-631226E8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16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9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AC88E3-F961-482B-84E9-3EE9BDB8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1054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11D"/>
                </a:solidFill>
              </a:defRPr>
            </a:pPr>
            <a:r>
              <a:rPr sz="1050" b="0">
                <a:solidFill>
                  <a:srgbClr val="16211D"/>
                </a:solidFill>
              </a:rPr>
              <a:t>AI concierge setup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21A340-4D1B-4328-8BE7-A971EB0B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391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9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3ADA11-528C-4D1A-B35F-CF2A4ED2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3340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11D"/>
                </a:solidFill>
              </a:defRPr>
            </a:pPr>
            <a:r>
              <a:rPr sz="1050" b="0">
                <a:solidFill>
                  <a:srgbClr val="16211D"/>
                </a:solidFill>
              </a:rPr>
              <a:t>Wedding-data answer guardrails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43BD02-F7A2-4C9E-B290-13569FEA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619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9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110E4A-B28C-4373-84AC-394297D1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5626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11D"/>
                </a:solidFill>
              </a:defRPr>
            </a:pPr>
            <a:r>
              <a:rPr sz="1050" b="0">
                <a:solidFill>
                  <a:srgbClr val="16211D"/>
                </a:solidFill>
              </a:rPr>
              <a:t>Premium positioning for guests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F385CD-28A2-4BEB-84EE-D71181E6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2004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0D4A36"/>
          </a:solidFill>
          <a:ln xmlns:a="http://schemas.openxmlformats.org/drawingml/2006/main" w="9525">
            <a:solidFill>
              <a:srgbClr val="0D4A3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563F1E-FB07-45A7-AE61-E91402A0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3200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9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261D9F-165C-4AD6-A390-8F8A4D71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051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Complete Wedding Portal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E63F4A-0811-4996-A34A-8AF07CF9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766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E8D5"/>
                </a:solidFill>
              </a:defRPr>
            </a:pPr>
            <a:r>
              <a:rPr sz="2025" b="1">
                <a:solidFill>
                  <a:srgbClr val="F4E8D5"/>
                </a:solidFill>
              </a:rPr>
              <a:t>EUR595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7E73036-1DA4-4BE6-B054-F2C51580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52900"/>
            <a:ext cx="27241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3EE"/>
                </a:solidFill>
              </a:defRPr>
            </a:pPr>
            <a:r>
              <a:rPr sz="1200" b="0">
                <a:solidFill>
                  <a:srgbClr val="EAF3EE"/>
                </a:solidFill>
              </a:rPr>
              <a:t>The full package for couples who want planning tools as well as a stunning website.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3408A6-E7C6-4259-AE55-08A5948A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33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DE6CB5-272C-4FEE-B3DD-55FACFAE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768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Everything in AI package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4C7451-1547-413F-B802-E5291706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6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35B003-3FB8-46F9-AA04-D45A9910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054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Couple portal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E2C25A-DC23-46E0-9B5F-1B0938CD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391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412E43-8273-4242-AF4A-A7618802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3340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Checklist and RSVP management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97B87CB-61F8-42EE-8130-D38DACEE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619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8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5C1E6C1-F562-4CFF-88CA-1FCDAB9C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626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Planning-ready foundation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50D63BD-6234-4BC5-928F-75454300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627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1665D"/>
                </a:solidFill>
              </a:defRPr>
            </a:pPr>
            <a:r>
              <a:rPr sz="825" b="0">
                <a:solidFill>
                  <a:srgbClr val="51665D"/>
                </a:solidFill>
              </a:rPr>
              <a:t>Elegant wedding websites and planning portals, built to feel bespoke.</a:t>
            </a:r>
          </a:p>
        </p:txBody>
      </p:sp>
    </p:spTree>
    <p:extLst>
      <p:ext uri="{BB962C8B-B14F-4D97-AF65-F5344CB8AC3E}">
        <p14:creationId xmlns:p14="http://schemas.microsoft.com/office/powerpoint/2010/main" val="8697118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47A86F-6284-4BFA-8D53-187B155D7C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C46E8-2D8A-4A50-A1E3-55A9BA13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CBE29-2B12-4C38-AA2A-48D8414D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143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ABA1B-BC35-43CF-8BF4-44D6DF4E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625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BF36F-C289-4C00-ACEF-577F95DB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381000"/>
            <a:ext cx="24765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33C4E-D807-4371-92B5-EE0BC9FB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59022-9D5F-46CD-8916-D0FC4B5C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4A36"/>
                </a:solidFill>
              </a:defRPr>
            </a:pPr>
            <a:r>
              <a:rPr sz="900" b="1">
                <a:solidFill>
                  <a:srgbClr val="0D4A36"/>
                </a:solidFill>
              </a:rPr>
              <a:t>AGELO WEDDINGS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C88E15-BF31-4230-A9D5-3D507BE9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906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9A57"/>
                </a:solidFill>
              </a:defRPr>
            </a:pPr>
            <a:r>
              <a:rPr sz="825" b="1">
                <a:solidFill>
                  <a:srgbClr val="C49A57"/>
                </a:solidFill>
              </a:rPr>
              <a:t>FEATURE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723DB-EC66-4358-A833-C8E7ABA2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781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1665D"/>
                </a:solidFill>
              </a:defRPr>
            </a:pPr>
            <a:r>
              <a:rPr sz="900" b="1">
                <a:solidFill>
                  <a:srgbClr val="51665D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C1BD3C-7069-482B-9912-8BBDE658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28328-7B51-46EC-8A6F-9D8F4F30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571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11D"/>
                </a:solidFill>
              </a:defRPr>
            </a:pPr>
            <a:r>
              <a:rPr sz="2550" b="1">
                <a:solidFill>
                  <a:srgbClr val="16211D"/>
                </a:solidFill>
              </a:rPr>
              <a:t>A simple side-by-side view of what is included.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D0599D-DADB-42CC-B358-079D4CE6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10572750" cy="3467100"/>
          </a:xfrm>
          <a:prstGeom xmlns:a="http://schemas.openxmlformats.org/drawingml/2006/main" prst="roundRect">
            <a:avLst>
              <a:gd name="adj" fmla="val 21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CD71B0-8C3F-4FFD-84D4-0ADC934F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10572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A37CD6-E767-4E9C-A633-1ADB0D15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211D"/>
                </a:solidFill>
              </a:defRPr>
            </a:pPr>
            <a:r>
              <a:rPr sz="1350" b="1">
                <a:solidFill>
                  <a:srgbClr val="16211D"/>
                </a:solidFill>
              </a:rPr>
              <a:t>Included features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B3C402-92C2-45AE-9CFB-FB760D14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860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4A36"/>
                </a:solidFill>
              </a:defRPr>
            </a:pPr>
            <a:r>
              <a:rPr sz="1200" b="1">
                <a:solidFill>
                  <a:srgbClr val="0D4A36"/>
                </a:solidFill>
              </a:rPr>
              <a:t>Essential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832A18-3787-4F52-A63D-FF55B364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860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4A36"/>
                </a:solidFill>
              </a:defRPr>
            </a:pPr>
            <a:r>
              <a:rPr sz="1200" b="1">
                <a:solidFill>
                  <a:srgbClr val="0D4A36"/>
                </a:solidFill>
              </a:rPr>
              <a:t>AI Concierge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2423EF-F0D0-48C8-8741-DA0C9126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4A36"/>
                </a:solidFill>
              </a:defRPr>
            </a:pPr>
            <a:r>
              <a:rPr sz="1200" b="1">
                <a:solidFill>
                  <a:srgbClr val="0D4A36"/>
                </a:solidFill>
              </a:rPr>
              <a:t>Complete Portal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D2507D-153A-4D23-BD6F-EC2C782F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48075"/>
            <a:ext cx="1011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943635-9CC9-4361-9376-D77B636E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956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11D"/>
                </a:solidFill>
              </a:defRPr>
            </a:pPr>
            <a:r>
              <a:rPr sz="1275" b="0">
                <a:solidFill>
                  <a:srgbClr val="16211D"/>
                </a:solidFill>
              </a:rPr>
              <a:t>Wedding website setup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41AED6-8BFD-458B-A6AB-7C768BFA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76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4A36"/>
                </a:solidFill>
              </a:defRPr>
            </a:pPr>
            <a:r>
              <a:rPr sz="1200" b="1">
                <a:solidFill>
                  <a:srgbClr val="0D4A36"/>
                </a:solidFill>
              </a:rPr>
              <a:t>Yes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10D211-A7DB-45F2-8EF5-01CC7E14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76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4A36"/>
                </a:solidFill>
              </a:defRPr>
            </a:pPr>
            <a:r>
              <a:rPr sz="1200" b="1">
                <a:solidFill>
                  <a:srgbClr val="0D4A36"/>
                </a:solidFill>
              </a:rPr>
              <a:t>Yes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5579C6-B670-4833-90ED-ABDF2819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766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4A36"/>
                </a:solidFill>
              </a:defRPr>
            </a:pPr>
            <a:r>
              <a:rPr sz="1200" b="1">
                <a:solidFill>
                  <a:srgbClr val="0D4A36"/>
                </a:solidFill>
              </a:rPr>
              <a:t>Yes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D428E7-DE73-43C1-BD4A-4D689929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81475"/>
            <a:ext cx="1011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CA9D56-8803-4DFF-BE5B-C379C7B2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290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11D"/>
                </a:solidFill>
              </a:defRPr>
            </a:pPr>
            <a:r>
              <a:rPr sz="1275" b="0">
                <a:solidFill>
                  <a:srgbClr val="16211D"/>
                </a:solidFill>
              </a:rPr>
              <a:t>Tailored styling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D06A1E-173E-4212-8D26-8B5373F8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100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4A36"/>
                </a:solidFill>
              </a:defRPr>
            </a:pPr>
            <a:r>
              <a:rPr sz="1200" b="1">
                <a:solidFill>
                  <a:srgbClr val="0D4A36"/>
                </a:solidFill>
              </a:rPr>
              <a:t>Yes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1B947A-7C31-40CD-80D0-839496A3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100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4A36"/>
                </a:solidFill>
              </a:defRPr>
            </a:pPr>
            <a:r>
              <a:rPr sz="1200" b="1">
                <a:solidFill>
                  <a:srgbClr val="0D4A36"/>
                </a:solidFill>
              </a:rPr>
              <a:t>Yes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F0F61A-00B4-44BD-AF93-9900FAFD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100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4A36"/>
                </a:solidFill>
              </a:defRPr>
            </a:pPr>
            <a:r>
              <a:rPr sz="1200" b="1">
                <a:solidFill>
                  <a:srgbClr val="0D4A36"/>
                </a:solidFill>
              </a:rPr>
              <a:t>Yes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B7C643-735F-4A68-9FEA-33274B14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14875"/>
            <a:ext cx="1011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39463E-1CDD-4718-B72D-9F329FA2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624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11D"/>
                </a:solidFill>
              </a:defRPr>
            </a:pPr>
            <a:r>
              <a:rPr sz="1275" b="0">
                <a:solidFill>
                  <a:srgbClr val="16211D"/>
                </a:solidFill>
              </a:rPr>
              <a:t>AI guest question assistant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DF9E68-0C67-48DB-A67C-A89548CA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434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65D"/>
                </a:solidFill>
              </a:defRPr>
            </a:pPr>
            <a:r>
              <a:rPr sz="1200" b="0">
                <a:solidFill>
                  <a:srgbClr val="51665D"/>
                </a:solidFill>
              </a:rPr>
              <a:t>-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9B3F83-3258-4C8F-A38F-B6CEFEC7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434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4A36"/>
                </a:solidFill>
              </a:defRPr>
            </a:pPr>
            <a:r>
              <a:rPr sz="1200" b="1">
                <a:solidFill>
                  <a:srgbClr val="0D4A36"/>
                </a:solidFill>
              </a:rPr>
              <a:t>Included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5F9B6F-8F29-4D7F-93CB-DB4A9BC40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434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4A36"/>
                </a:solidFill>
              </a:defRPr>
            </a:pPr>
            <a:r>
              <a:rPr sz="1200" b="1">
                <a:solidFill>
                  <a:srgbClr val="0D4A36"/>
                </a:solidFill>
              </a:rPr>
              <a:t>Included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F89981-01AD-4BA3-9827-CBE957AC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48275"/>
            <a:ext cx="1011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E954BF-A10F-4494-A300-AD93F8AB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11D"/>
                </a:solidFill>
              </a:defRPr>
            </a:pPr>
            <a:r>
              <a:rPr sz="1275" b="0">
                <a:solidFill>
                  <a:srgbClr val="16211D"/>
                </a:solidFill>
              </a:rPr>
              <a:t>Private couple portal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45F00F-7DED-4FD0-8C6A-4FDB74B9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768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65D"/>
                </a:solidFill>
              </a:defRPr>
            </a:pPr>
            <a:r>
              <a:rPr sz="1200" b="0">
                <a:solidFill>
                  <a:srgbClr val="51665D"/>
                </a:solidFill>
              </a:rPr>
              <a:t>-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DC90EF-72E0-4FD8-9194-031332C7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768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65D"/>
                </a:solidFill>
              </a:defRPr>
            </a:pPr>
            <a:r>
              <a:rPr sz="1200" b="0">
                <a:solidFill>
                  <a:srgbClr val="51665D"/>
                </a:solidFill>
              </a:rPr>
              <a:t>-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BC24FF-B53C-49C6-B9B9-2F5BC807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8768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4A36"/>
                </a:solidFill>
              </a:defRPr>
            </a:pPr>
            <a:r>
              <a:rPr sz="1200" b="1">
                <a:solidFill>
                  <a:srgbClr val="0D4A36"/>
                </a:solidFill>
              </a:rPr>
              <a:t>Included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106D93-C0C6-42EB-B4E7-3AFEA7E9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2925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11D"/>
                </a:solidFill>
              </a:defRPr>
            </a:pPr>
            <a:r>
              <a:rPr sz="1275" b="0">
                <a:solidFill>
                  <a:srgbClr val="16211D"/>
                </a:solidFill>
              </a:rPr>
              <a:t>Checklist and RSVP tools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75C3C5-857E-48C5-9374-7D3DC691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410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65D"/>
                </a:solidFill>
              </a:defRPr>
            </a:pPr>
            <a:r>
              <a:rPr sz="1200" b="0">
                <a:solidFill>
                  <a:srgbClr val="51665D"/>
                </a:solidFill>
              </a:rPr>
              <a:t>-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5A3F7A-5EEE-4ED9-9165-CCF7323B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410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65D"/>
                </a:solidFill>
              </a:defRPr>
            </a:pPr>
            <a:r>
              <a:rPr sz="1200" b="0">
                <a:solidFill>
                  <a:srgbClr val="51665D"/>
                </a:solidFill>
              </a:rPr>
              <a:t>-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F7E1C9-CB1A-4695-8334-66A97630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410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4A36"/>
                </a:solidFill>
              </a:defRPr>
            </a:pPr>
            <a:r>
              <a:rPr sz="1200" b="1">
                <a:solidFill>
                  <a:srgbClr val="0D4A36"/>
                </a:solidFill>
              </a:rPr>
              <a:t>Included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C1C395-5C01-4103-AF50-6FA7B269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531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1665D"/>
                </a:solidFill>
              </a:defRPr>
            </a:pPr>
            <a:r>
              <a:rPr sz="975" b="0">
                <a:solidFill>
                  <a:srgbClr val="51665D"/>
                </a:solidFill>
              </a:rPr>
              <a:t>This pricing leaves room to deliver a creative, guided service rather than racing to the bottom on template work.</a:t>
            </a:r>
          </a:p>
        </p:txBody>
      </p:sp>
    </p:spTree>
    <p:extLst>
      <p:ext uri="{BB962C8B-B14F-4D97-AF65-F5344CB8AC3E}">
        <p14:creationId xmlns:p14="http://schemas.microsoft.com/office/powerpoint/2010/main" val="6651480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47A86F-6284-4BFA-8D53-187B155D7C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7C00AA-0C64-4E1C-82D1-55F94C1C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9C7E9-025C-47EC-9D8F-6A92E64F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143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531D8-CDE2-4E09-ADB7-6C3269AE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625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58AEB-6919-4041-9991-38974D40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381000"/>
            <a:ext cx="24765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737AF-2199-4449-AFD6-A417875A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0C9C9-D2F6-40B0-92A3-8A0AA342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4A36"/>
                </a:solidFill>
              </a:defRPr>
            </a:pPr>
            <a:r>
              <a:rPr sz="900" b="1">
                <a:solidFill>
                  <a:srgbClr val="0D4A36"/>
                </a:solidFill>
              </a:rPr>
              <a:t>AGELO WEDDINGS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B0024-CF29-42D9-B7E0-CC9278C4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906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9A57"/>
                </a:solidFill>
              </a:defRPr>
            </a:pPr>
            <a:r>
              <a:rPr sz="825" b="1">
                <a:solidFill>
                  <a:srgbClr val="C49A57"/>
                </a:solidFill>
              </a:rPr>
              <a:t>WHY THIS IS DIFFERENT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CBAAD-C33A-486F-A649-0E32BDCA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781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1665D"/>
                </a:solidFill>
              </a:defRPr>
            </a:pPr>
            <a:r>
              <a:rPr sz="900" b="1">
                <a:solidFill>
                  <a:srgbClr val="51665D"/>
                </a:solidFill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84978-9F29-40C8-A33D-41DA7E1E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86A40E-9F04-4A3A-A4D2-FC92B219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571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11D"/>
                </a:solidFill>
              </a:defRPr>
            </a:pPr>
            <a:r>
              <a:rPr sz="2700" b="1">
                <a:solidFill>
                  <a:srgbClr val="16211D"/>
                </a:solidFill>
              </a:rPr>
              <a:t>This goes beyond asking AI for a pretty page.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DDC41-5815-43CD-8EA1-428CC86D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552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65D"/>
                </a:solidFill>
              </a:defRPr>
            </a:pPr>
            <a:r>
              <a:rPr sz="1350" b="0">
                <a:solidFill>
                  <a:srgbClr val="51665D"/>
                </a:solidFill>
              </a:rPr>
              <a:t>The value is in the product thinking, structure, and delivery.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67EBB4-73C8-4E89-B83C-1C3BB2B2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32004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38CAE2-8882-4CFC-84BC-F194E408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F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96ABC-46EF-47DA-B16D-323923F7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576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211D"/>
                </a:solidFill>
              </a:defRPr>
            </a:pPr>
            <a:r>
              <a:rPr sz="1875" b="1">
                <a:solidFill>
                  <a:srgbClr val="16211D"/>
                </a:solidFill>
              </a:rPr>
              <a:t>Thoughtful structure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652042-F6D7-4271-842B-902BA5DF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67250"/>
            <a:ext cx="266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65D"/>
                </a:solidFill>
              </a:defRPr>
            </a:pPr>
            <a:r>
              <a:rPr sz="1200" b="0">
                <a:solidFill>
                  <a:srgbClr val="51665D"/>
                </a:solidFill>
              </a:rPr>
              <a:t>The website, RSVP handling, portal, and planning tools are designed as one reusable system rather than disconnected pages.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B88735-D429-411B-B301-573E1BA2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43250"/>
            <a:ext cx="32004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4C4CEA-7927-4B29-9856-D783955F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09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9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12F069-946C-4C79-9479-5513267D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576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211D"/>
                </a:solidFill>
              </a:defRPr>
            </a:pPr>
            <a:r>
              <a:rPr sz="1875" b="1">
                <a:solidFill>
                  <a:srgbClr val="16211D"/>
                </a:solidFill>
              </a:rPr>
              <a:t>Real implementation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E10463-0A66-4338-8699-FB009EFB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67250"/>
            <a:ext cx="266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65D"/>
                </a:solidFill>
              </a:defRPr>
            </a:pPr>
            <a:r>
              <a:rPr sz="1200" b="0">
                <a:solidFill>
                  <a:srgbClr val="51665D"/>
                </a:solidFill>
              </a:rPr>
              <a:t>Database setup, live guest data, protected portal areas, and reusable wedding records create a foundation that goes well beyond a mockup.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0A83C4-2091-4350-AC40-2D56A169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43250"/>
            <a:ext cx="32004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27F64D-DE15-49A2-BE39-2F3D8580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9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FE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27F3ED-E5F1-4DB4-A2CA-E2745D71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5765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211D"/>
                </a:solidFill>
              </a:defRPr>
            </a:pPr>
            <a:r>
              <a:rPr sz="1875" b="1">
                <a:solidFill>
                  <a:srgbClr val="16211D"/>
                </a:solidFill>
              </a:rPr>
              <a:t>Creative direction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B5951F-394A-424D-BB63-87430085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67250"/>
            <a:ext cx="266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65D"/>
                </a:solidFill>
              </a:defRPr>
            </a:pPr>
            <a:r>
              <a:rPr sz="1200" b="0">
                <a:solidFill>
                  <a:srgbClr val="51665D"/>
                </a:solidFill>
              </a:rPr>
              <a:t>Design taste, package thinking, and a calm client experience are what make the service feel premium and commercially usable.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92C298-B376-4B2E-8CE9-1F405346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81650"/>
            <a:ext cx="6858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AF3EE"/>
          </a:solidFill>
          <a:ln xmlns:a="http://schemas.openxmlformats.org/drawingml/2006/main" w="0">
            <a:solidFill>
              <a:srgbClr val="EAF3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9F7BE0-B016-41D1-9F17-0728B84B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15000"/>
            <a:ext cx="628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4A36"/>
                </a:solidFill>
              </a:defRPr>
            </a:pPr>
            <a:r>
              <a:rPr sz="1275" b="1">
                <a:solidFill>
                  <a:srgbClr val="0D4A36"/>
                </a:solidFill>
              </a:rPr>
              <a:t>What couples are really buying is a low-stress, beautiful, done-for-you digital experience.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A764F1-3ADF-4A27-B651-86CF3B6E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627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1665D"/>
                </a:solidFill>
              </a:defRPr>
            </a:pPr>
            <a:r>
              <a:rPr sz="825" b="0">
                <a:solidFill>
                  <a:srgbClr val="51665D"/>
                </a:solidFill>
              </a:rPr>
              <a:t>Elegant wedding websites and planning portals, built to feel bespoke.</a:t>
            </a:r>
          </a:p>
        </p:txBody>
      </p:sp>
    </p:spTree>
    <p:extLst>
      <p:ext uri="{BB962C8B-B14F-4D97-AF65-F5344CB8AC3E}">
        <p14:creationId xmlns:p14="http://schemas.microsoft.com/office/powerpoint/2010/main" val="5480733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1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47A86F-6284-4BFA-8D53-187B155D7C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40D24-65F9-4118-971A-56B7660C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A16CA-A3D8-4064-B32D-B01D4D42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143000"/>
            <a:ext cx="4000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C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77087-9040-4AC7-B12B-57650367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62500"/>
            <a:ext cx="34290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656F5-3BD9-4A83-ABE9-13F71271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-381000"/>
            <a:ext cx="24765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0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E7F42-6B4A-4327-94FB-06A4AF02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82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792B4-5BB8-4940-9AC4-3F9174F0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429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D4A36"/>
                </a:solidFill>
              </a:defRPr>
            </a:pPr>
            <a:r>
              <a:rPr sz="900" b="1">
                <a:solidFill>
                  <a:srgbClr val="0D4A36"/>
                </a:solidFill>
              </a:rPr>
              <a:t>AGELO WEDDINGS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D065B-C6C6-44CE-80E0-5E1D4F31C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906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C49A57"/>
                </a:solidFill>
              </a:defRPr>
            </a:pPr>
            <a:r>
              <a:rPr sz="825" b="1">
                <a:solidFill>
                  <a:srgbClr val="C49A57"/>
                </a:solidFill>
              </a:rPr>
              <a:t>HOW IT WORKS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1EBD35-3E00-4827-8636-D6471BF2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78105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1665D"/>
                </a:solidFill>
              </a:defRPr>
            </a:pPr>
            <a:r>
              <a:rPr sz="900" b="1">
                <a:solidFill>
                  <a:srgbClr val="51665D"/>
                </a:solidFill>
              </a:rPr>
              <a:t>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AAD7F-82FD-4DC3-B384-76EE9A81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5730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F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002AF-BF06-4AA2-B560-F724F7C8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590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11D"/>
                </a:solidFill>
              </a:defRPr>
            </a:pPr>
            <a:r>
              <a:rPr sz="2700" b="1">
                <a:solidFill>
                  <a:srgbClr val="16211D"/>
                </a:solidFill>
              </a:rPr>
              <a:t>A simple client journey from</a:t>
            </a:r>
          </a:p>
          <a:p xmlns:a="http://schemas.openxmlformats.org/drawingml/2006/main">
            <a:pPr algn="l">
              <a:defRPr sz="2700" b="1">
                <a:solidFill>
                  <a:srgbClr val="16211D"/>
                </a:solidFill>
              </a:defRPr>
            </a:pPr>
            <a:r>
              <a:rPr sz="2700" b="1">
                <a:solidFill>
                  <a:srgbClr val="16211D"/>
                </a:solidFill>
              </a:rPr>
              <a:t>enquiry to launch.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8B8C53-C499-4CB2-854E-C1E9CAE0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65D"/>
                </a:solidFill>
              </a:defRPr>
            </a:pPr>
            <a:r>
              <a:rPr sz="1350" b="0">
                <a:solidFill>
                  <a:srgbClr val="51665D"/>
                </a:solidFill>
              </a:rPr>
              <a:t>Keep the service feeling easy, guided, and organised from the first conversation.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25AE1B-B434-4A73-BF58-346FE859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09950"/>
            <a:ext cx="2247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01B51-7B53-4147-BF90-886B51A1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52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A36"/>
          </a:solidFill>
          <a:ln xmlns:a="http://schemas.openxmlformats.org/drawingml/2006/main" w="0">
            <a:solidFill>
              <a:srgbClr val="0D4A3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9F2316-EC55-44A0-BB67-B1C2DF11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33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4B7304-5A59-4860-9F8D-517C7865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211D"/>
                </a:solidFill>
              </a:defRPr>
            </a:pPr>
            <a:r>
              <a:rPr sz="1650" b="1">
                <a:solidFill>
                  <a:srgbClr val="16211D"/>
                </a:solidFill>
              </a:rPr>
              <a:t>1. Enquiry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2B8B1F-C7A8-4A0B-A9BD-A13B0A7E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4815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1665D"/>
                </a:solidFill>
              </a:defRPr>
            </a:pPr>
            <a:r>
              <a:rPr sz="1125" b="0">
                <a:solidFill>
                  <a:srgbClr val="51665D"/>
                </a:solidFill>
              </a:rPr>
              <a:t>Discuss the couple's style, guest needs, and chosen package.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CCFDD3-74C1-4346-9C77-CC33F01C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09950"/>
            <a:ext cx="2247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8E9E1F-4A6F-4193-BE71-D64BEFD8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52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A36"/>
          </a:solidFill>
          <a:ln xmlns:a="http://schemas.openxmlformats.org/drawingml/2006/main" w="0">
            <a:solidFill>
              <a:srgbClr val="0D4A3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4E8DB5-66E3-4E7D-840A-639CD4AD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33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4FBE8F-FE9A-4ACF-813B-6C91A8F2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719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211D"/>
                </a:solidFill>
              </a:defRPr>
            </a:pPr>
            <a:r>
              <a:rPr sz="1650" b="1">
                <a:solidFill>
                  <a:srgbClr val="16211D"/>
                </a:solidFill>
              </a:rPr>
              <a:t>2. Content collection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605080-671D-42D7-95DE-F499ABC2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4815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1665D"/>
                </a:solidFill>
              </a:defRPr>
            </a:pPr>
            <a:r>
              <a:rPr sz="1125" b="0">
                <a:solidFill>
                  <a:srgbClr val="51665D"/>
                </a:solidFill>
              </a:rPr>
              <a:t>Gather names, schedule, travel details, FAQ, and optional guest list.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780ADC-E21D-4A78-A1E3-25859228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09950"/>
            <a:ext cx="2247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826DF6-D7CB-4D9C-A2CC-B2D19D80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52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A36"/>
          </a:solidFill>
          <a:ln xmlns:a="http://schemas.openxmlformats.org/drawingml/2006/main" w="0">
            <a:solidFill>
              <a:srgbClr val="0D4A3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AA69CC-AFEC-421F-80FD-324AB5B8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33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CDA118-D15E-4704-A363-F3F5A3F5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719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211D"/>
                </a:solidFill>
              </a:defRPr>
            </a:pPr>
            <a:r>
              <a:rPr sz="1650" b="1">
                <a:solidFill>
                  <a:srgbClr val="16211D"/>
                </a:solidFill>
              </a:rPr>
              <a:t>3. Build and refine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457F03-B475-4942-A3CF-52C31BE5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4815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1665D"/>
                </a:solidFill>
              </a:defRPr>
            </a:pPr>
            <a:r>
              <a:rPr sz="1125" b="0">
                <a:solidFill>
                  <a:srgbClr val="51665D"/>
                </a:solidFill>
              </a:rPr>
              <a:t>Design the site, set up features, and make final edits.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AE67DD-EF58-44DB-B176-DBEDE818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9950"/>
            <a:ext cx="2247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F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A8A74E-6AAB-4EE0-A49A-12C0F592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527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A36"/>
          </a:solidFill>
          <a:ln xmlns:a="http://schemas.openxmlformats.org/drawingml/2006/main" w="0">
            <a:solidFill>
              <a:srgbClr val="0D4A3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04EFF2-470C-4E77-A186-8F110C10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1337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987850-C88F-4985-B5E1-9069AA4E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719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211D"/>
                </a:solidFill>
              </a:defRPr>
            </a:pPr>
            <a:r>
              <a:rPr sz="1650" b="1">
                <a:solidFill>
                  <a:srgbClr val="16211D"/>
                </a:solidFill>
              </a:rPr>
              <a:t>4. Launch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C26404-DF73-4971-8698-7B8F3E64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4815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1665D"/>
                </a:solidFill>
              </a:defRPr>
            </a:pPr>
            <a:r>
              <a:rPr sz="1125" b="0">
                <a:solidFill>
                  <a:srgbClr val="51665D"/>
                </a:solidFill>
              </a:rPr>
              <a:t>Publish the website and give the couple a polished digital home for the wedding.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EED291-7744-4122-BE0D-29F60E79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00700"/>
            <a:ext cx="5810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D4A36"/>
          </a:solidFill>
          <a:ln xmlns:a="http://schemas.openxmlformats.org/drawingml/2006/main" w="0">
            <a:solidFill>
              <a:srgbClr val="0D4A3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4F9212-ED64-4510-BF00-F9BCA07B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791200"/>
            <a:ext cx="523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Ready to position this as a premium wedding offer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1CEBF1-DAAD-4931-AED4-5AEEB182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3627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1665D"/>
                </a:solidFill>
              </a:defRPr>
            </a:pPr>
            <a:r>
              <a:rPr sz="825" b="0">
                <a:solidFill>
                  <a:srgbClr val="51665D"/>
                </a:solidFill>
              </a:rPr>
              <a:t>Use this brochure in enquiries, emails, DMs, and discovery calls.</a:t>
            </a:r>
          </a:p>
        </p:txBody>
      </p:sp>
    </p:spTree>
    <p:extLst>
      <p:ext uri="{BB962C8B-B14F-4D97-AF65-F5344CB8AC3E}">
        <p14:creationId xmlns:p14="http://schemas.microsoft.com/office/powerpoint/2010/main" val="8081616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2026-04-22T21:42:31.4890000Z</dcterms:created>
  <dcterms:modified xsi:type="dcterms:W3CDTF">2026-04-22T21:42:31.4890000Z</dcterms:modified>
</coreProperties>
</file>